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9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1874519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95728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HyMRPL — Modo Híbrido de Operação para o RPL (MOP = 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DF2F7"/>
                </a:solidFill>
                <a:latin typeface="Calibri"/>
              </a:rPr>
              <a:t>Coexistência simultânea de comportamentos Storing e Non-Storing em uma mesma DODAG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FD6EA"/>
                </a:solidFill>
                <a:latin typeface="Calibri"/>
              </a:rPr>
              <a:t>Adaptação de classe em tempo de execução, sem overhead na rede  ·  implementado no daemon rpld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521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FB6CC"/>
                </a:solidFill>
                <a:latin typeface="Calibri"/>
              </a:rPr>
              <a:t>Cassius Clay Batista da Silva Filho  ·  PPgTI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7A1E"/>
                </a:solidFill>
                <a:latin typeface="Calibri"/>
              </a:rPr>
              <a:t>Motivação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B2947"/>
                </a:solidFill>
                <a:latin typeface="Calibri"/>
              </a:rPr>
              <a:t>O Problema: o MOP Global Impõe Homogeneidade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1064240" cy="54864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444A52"/>
                </a:solidFill>
                <a:latin typeface="Calibri"/>
              </a:rPr>
              <a:t>• O RPL (RFC 6550) define o Modo de Operação por DODAG — todos os nós usam o mesmo modo.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44A52"/>
                </a:solidFill>
                <a:latin typeface="Calibri"/>
              </a:rPr>
              <a:t>• Storing: rotas descendentes em cada nó — baixa latência, mas custo de memória nos nós restritos.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44A52"/>
                </a:solidFill>
                <a:latin typeface="Calibri"/>
              </a:rPr>
              <a:t>• Non-Storing: estado centralizado na raiz via SRH — nós leves, porém caminhos mais longos.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44A52"/>
                </a:solidFill>
                <a:latin typeface="Calibri"/>
              </a:rPr>
              <a:t>• Redes IoT reais são heterogêneas: energia, memória e mobilidade variam de nó para nó.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44A52"/>
                </a:solidFill>
                <a:latin typeface="Calibri"/>
              </a:rPr>
              <a:t>• Um único modo global não acomoda essa assimetria.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463040"/>
            <a:ext cx="5120640" cy="420624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27000"/>
          <a:lstStyle/>
          <a:p>
            <a:pPr algn="ctr"/>
            <a:r>
              <a:rPr b="1" sz="1600">
                <a:solidFill>
                  <a:srgbClr val="0B2947"/>
                </a:solidFill>
                <a:latin typeface="Calibri"/>
              </a:rPr>
              <a:t>Ideia do HyMRPL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444A52"/>
                </a:solidFill>
                <a:latin typeface="Calibri"/>
              </a:rPr>
              <a:t>MOP = 6 (experimental, a RFC reserva 4–7).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444A52"/>
                </a:solidFill>
                <a:latin typeface="Calibri"/>
              </a:rPr>
              <a:t>Cada nó escolhe localmente sua classe funcional: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444A52"/>
                </a:solidFill>
                <a:latin typeface="Calibri"/>
              </a:rPr>
              <a:t>   Classe S → storing-like (mantém rotas locais)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444A52"/>
                </a:solidFill>
                <a:latin typeface="Calibri"/>
              </a:rPr>
              <a:t>   Classe N → non-storing-like (delega ao SRH da raiz)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444A52"/>
                </a:solidFill>
                <a:latin typeface="Calibri"/>
              </a:rPr>
              <a:t>Os dois paradigmas coexistem na mesma DODAG.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444A52"/>
                </a:solidFill>
                <a:latin typeface="Calibri"/>
              </a:rPr>
              <a:t>Troca de classe em tempo de execução, sem pacotes extras.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7A1E"/>
                </a:solidFill>
                <a:latin typeface="Calibri"/>
              </a:rPr>
              <a:t>Visão geral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B2947"/>
                </a:solidFill>
                <a:latin typeface="Calibri"/>
              </a:rPr>
              <a:t>Arquitetura: Três Subsistemas Integrados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1064240" cy="54864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3520440" cy="429768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27000"/>
          <a:lstStyle/>
          <a:p>
            <a:pPr algn="ctr"/>
            <a:r>
              <a:rPr b="1" sz="1600">
                <a:solidFill>
                  <a:srgbClr val="FFFFFF"/>
                </a:solidFill>
                <a:latin typeface="Calibri"/>
              </a:rPr>
              <a:t>1. Roteamento Híbrido (MOP=6)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FFFFFF"/>
                </a:solidFill>
                <a:latin typeface="Calibri"/>
              </a:rPr>
              <a:t>DAO dual: para o parent e para a raiz.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FFFFFF"/>
                </a:solidFill>
                <a:latin typeface="Calibri"/>
              </a:rPr>
              <a:t>A raiz constrói a árvore SRH completa.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FFFFFF"/>
                </a:solidFill>
                <a:latin typeface="Calibri"/>
              </a:rPr>
              <a:t>Classe S instala rotas hop-by-hop.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FFFFFF"/>
                </a:solidFill>
                <a:latin typeface="Calibri"/>
              </a:rPr>
              <a:t>Classe N delega ao SRH da raiz.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FFFFFF"/>
                </a:solidFill>
                <a:latin typeface="Calibri"/>
              </a:rPr>
              <a:t>Classe S agrega os alvos dos filhos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FFFFFF"/>
                </a:solidFill>
                <a:latin typeface="Calibri"/>
              </a:rPr>
              <a:t>→ enriquece a árvore SRH da raiz.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43400" y="1463040"/>
            <a:ext cx="3520440" cy="4297680"/>
          </a:xfrm>
          <a:prstGeom prst="rect">
            <a:avLst/>
          </a:prstGeom>
          <a:solidFill>
            <a:srgbClr val="128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27000"/>
          <a:lstStyle/>
          <a:p>
            <a:pPr algn="ctr"/>
            <a:r>
              <a:rPr b="1" sz="1600">
                <a:solidFill>
                  <a:srgbClr val="FFFFFF"/>
                </a:solidFill>
                <a:latin typeface="Calibri"/>
              </a:rPr>
              <a:t>2. Motor de Decisão Adaptativa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FFFFFF"/>
                </a:solidFill>
                <a:latin typeface="Calibri"/>
              </a:rPr>
              <a:t>Roda dentro do event loop do rpld.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FFFFFF"/>
                </a:solidFill>
                <a:latin typeface="Calibri"/>
              </a:rPr>
              <a:t>Score composto de 3 métricas: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FFFFFF"/>
                </a:solidFill>
                <a:latin typeface="Calibri"/>
              </a:rPr>
              <a:t>PDR, energia residual, estabilidade.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FFFFFF"/>
                </a:solidFill>
                <a:latin typeface="Calibri"/>
              </a:rPr>
              <a:t>Score normalizado + histerese.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FFFFFF"/>
                </a:solidFill>
                <a:latin typeface="Calibri"/>
              </a:rPr>
              <a:t>Sem processo Python externo.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FFFFFF"/>
                </a:solidFill>
                <a:latin typeface="Calibri"/>
              </a:rPr>
              <a:t>Mudança de 1 byte → zero overhead.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1463040"/>
            <a:ext cx="3520440" cy="4297680"/>
          </a:xfrm>
          <a:prstGeom prst="rect">
            <a:avLst/>
          </a:prstGeom>
          <a:solidFill>
            <a:srgbClr val="0B2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27000"/>
          <a:lstStyle/>
          <a:p>
            <a:pPr algn="ctr"/>
            <a:r>
              <a:rPr b="1" sz="1600">
                <a:solidFill>
                  <a:srgbClr val="FFFFFF"/>
                </a:solidFill>
                <a:latin typeface="Calibri"/>
              </a:rPr>
              <a:t>3. FIFO Seguro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FFFFFF"/>
                </a:solidFill>
                <a:latin typeface="Calibri"/>
              </a:rPr>
              <a:t>Autenticação HMAC-SHA256.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FFFFFF"/>
                </a:solidFill>
                <a:latin typeface="Calibri"/>
              </a:rPr>
              <a:t>Nonce → proteção contra replay.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FFFFFF"/>
                </a:solidFill>
                <a:latin typeface="Calibri"/>
              </a:rPr>
              <a:t>Rate limiting (10s / 3 por min).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FFFFFF"/>
                </a:solidFill>
                <a:latin typeface="Calibri"/>
              </a:rPr>
              <a:t>Permissões 0600 (somente root).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FFFFFF"/>
                </a:solidFill>
                <a:latin typeface="Calibri"/>
              </a:rPr>
              <a:t>Log de auditoria de cada tentativa.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FFFFFF"/>
                </a:solidFill>
                <a:latin typeface="Calibri"/>
              </a:rPr>
              <a:t>Fallback legado em texto plano.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444A52"/>
                </a:solidFill>
                <a:latin typeface="Calibri"/>
              </a:rPr>
              <a:t>Comandos externos via FIFO têm prioridade sobre o motor adaptativo (override manual por operadores / SDN).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7A1E"/>
                </a:solidFill>
                <a:latin typeface="Calibri"/>
              </a:rPr>
              <a:t>Modelo central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B2947"/>
                </a:solidFill>
                <a:latin typeface="Calibri"/>
              </a:rPr>
              <a:t>Motor de Decisão Adaptativa: o Score Composto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1064240" cy="54864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10881360" cy="105156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0B2947"/>
                </a:solidFill>
                <a:latin typeface="Calibri"/>
              </a:rPr>
              <a:t>S  =  0,4 · s_pdr   +   0,3 · s_energia   +   0,3 · s_estab        →    S ≥ 0,75 ⇒ Classe S    |    S &lt; 0,75 ⇒ Classe 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97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444A52"/>
                </a:solidFill>
                <a:latin typeface="Calibri"/>
              </a:rPr>
              <a:t>• Cada componente é normalizado em [0, 1] e os pesos somam 1,0 → o próprio score fica em [0, 1] e é diretamente comparável ao limiar θ = 0,75.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383280"/>
            <a:ext cx="3520440" cy="2651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27000"/>
          <a:lstStyle/>
          <a:p>
            <a:pPr algn="ctr"/>
            <a:r>
              <a:rPr b="1" sz="1600">
                <a:solidFill>
                  <a:srgbClr val="1F6FB2"/>
                </a:solidFill>
                <a:latin typeface="Calibri"/>
              </a:rPr>
              <a:t>s_pdr  (peso 0,4)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444A52"/>
                </a:solidFill>
                <a:latin typeface="Calibri"/>
              </a:rPr>
              <a:t>Qualidade do enlace.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444A52"/>
                </a:solidFill>
                <a:latin typeface="Calibri"/>
              </a:rPr>
              <a:t>Fração de DAO-ACKs recebidos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444A52"/>
                </a:solidFill>
                <a:latin typeface="Calibri"/>
              </a:rPr>
              <a:t>em janela deslizante de W = 20.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444A52"/>
                </a:solidFill>
                <a:latin typeface="Calibri"/>
              </a:rPr>
              <a:t>Reage em escala de segundos.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3383280"/>
            <a:ext cx="3520440" cy="2651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27000"/>
          <a:lstStyle/>
          <a:p>
            <a:pPr algn="ctr"/>
            <a:r>
              <a:rPr b="1" sz="1600">
                <a:solidFill>
                  <a:srgbClr val="128C7D"/>
                </a:solidFill>
                <a:latin typeface="Calibri"/>
              </a:rPr>
              <a:t>s_energia  (peso 0,3)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444A52"/>
                </a:solidFill>
                <a:latin typeface="Calibri"/>
              </a:rPr>
              <a:t>Bateria / capacidade residual.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444A52"/>
                </a:solidFill>
                <a:latin typeface="Calibri"/>
              </a:rPr>
              <a:t>Lida a cada 5 s, suavizada por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444A52"/>
                </a:solidFill>
                <a:latin typeface="Calibri"/>
              </a:rPr>
              <a:t>EMA com α = 0,3.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444A52"/>
                </a:solidFill>
                <a:latin typeface="Calibri"/>
              </a:rPr>
              <a:t>Varia lentamente (min–horas).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0" y="3383280"/>
            <a:ext cx="3520440" cy="2651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27000"/>
          <a:lstStyle/>
          <a:p>
            <a:pPr algn="ctr"/>
            <a:r>
              <a:rPr b="1" sz="1600">
                <a:solidFill>
                  <a:srgbClr val="0B2947"/>
                </a:solidFill>
                <a:latin typeface="Calibri"/>
              </a:rPr>
              <a:t>s_estab  (peso 0,3)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444A52"/>
                </a:solidFill>
                <a:latin typeface="Calibri"/>
              </a:rPr>
              <a:t>Estabilidade topológica.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444A52"/>
                </a:solidFill>
                <a:latin typeface="Calibri"/>
              </a:rPr>
              <a:t>Frequência de troca de parent em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444A52"/>
                </a:solidFill>
                <a:latin typeface="Calibri"/>
              </a:rPr>
              <a:t>janela de 60 s, normalizada por Nmax=3.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444A52"/>
                </a:solidFill>
                <a:latin typeface="Calibri"/>
              </a:rPr>
              <a:t>Índice contínuo, não binário.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383280"/>
            <a:ext cx="3520440" cy="109728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3383280"/>
            <a:ext cx="3520440" cy="109728"/>
          </a:xfrm>
          <a:prstGeom prst="rect">
            <a:avLst/>
          </a:prstGeom>
          <a:solidFill>
            <a:srgbClr val="128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3383280"/>
            <a:ext cx="3520440" cy="109728"/>
          </a:xfrm>
          <a:prstGeom prst="rect">
            <a:avLst/>
          </a:prstGeom>
          <a:solidFill>
            <a:srgbClr val="0B2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7A1E"/>
                </a:solidFill>
                <a:latin typeface="Calibri"/>
              </a:rPr>
              <a:t>Por que importa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B2947"/>
                </a:solidFill>
                <a:latin typeface="Calibri"/>
              </a:rPr>
              <a:t>Normalização dos Dados: Comparando Grandezas Distintas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1064240" cy="54864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5577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444A52"/>
                </a:solidFill>
                <a:latin typeface="Calibri"/>
              </a:rPr>
              <a:t>• As três métricas têm naturezas e unidades completamente diferentes:</a:t>
            </a:r>
          </a:p>
          <a:p>
            <a:pPr lvl="1">
              <a:spcAft>
                <a:spcPts val="600"/>
              </a:spcAft>
            </a:pPr>
            <a:r>
              <a:rPr sz="1300">
                <a:solidFill>
                  <a:srgbClr val="444A52"/>
                </a:solidFill>
                <a:latin typeface="Calibri"/>
              </a:rPr>
              <a:t>– PDR → razão de sucesso do protocolo (%)</a:t>
            </a:r>
          </a:p>
          <a:p>
            <a:pPr lvl="1">
              <a:spcAft>
                <a:spcPts val="600"/>
              </a:spcAft>
            </a:pPr>
            <a:r>
              <a:rPr sz="1300">
                <a:solidFill>
                  <a:srgbClr val="444A52"/>
                </a:solidFill>
                <a:latin typeface="Calibri"/>
              </a:rPr>
              <a:t>– Energia → carga da bateria (%)</a:t>
            </a:r>
          </a:p>
          <a:p>
            <a:pPr lvl="1">
              <a:spcAft>
                <a:spcPts val="600"/>
              </a:spcAft>
            </a:pPr>
            <a:r>
              <a:rPr sz="1300">
                <a:solidFill>
                  <a:srgbClr val="444A52"/>
                </a:solidFill>
                <a:latin typeface="Calibri"/>
              </a:rPr>
              <a:t>– Estabilidade → contagem de eventos topológicos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444A52"/>
                </a:solidFill>
                <a:latin typeface="Calibri"/>
              </a:rPr>
              <a:t>• Somá-las diretamente não faria sentido — uma poderia dominar só pela sua escala.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444A52"/>
                </a:solidFill>
                <a:latin typeface="Calibri"/>
              </a:rPr>
              <a:t>• Cada métrica é mapeada para a escala comum [0, 1]:</a:t>
            </a:r>
          </a:p>
          <a:p>
            <a:pPr lvl="1">
              <a:spcAft>
                <a:spcPts val="600"/>
              </a:spcAft>
            </a:pPr>
            <a:r>
              <a:rPr sz="1300">
                <a:solidFill>
                  <a:srgbClr val="444A52"/>
                </a:solidFill>
                <a:latin typeface="Calibri"/>
              </a:rPr>
              <a:t>– s_pdr = sucessos / W</a:t>
            </a:r>
          </a:p>
          <a:p>
            <a:pPr lvl="1">
              <a:spcAft>
                <a:spcPts val="600"/>
              </a:spcAft>
            </a:pPr>
            <a:r>
              <a:rPr sz="1300">
                <a:solidFill>
                  <a:srgbClr val="444A52"/>
                </a:solidFill>
                <a:latin typeface="Calibri"/>
              </a:rPr>
              <a:t>– s_energia = EMA( E(t)/100 )</a:t>
            </a:r>
          </a:p>
          <a:p>
            <a:pPr lvl="1">
              <a:spcAft>
                <a:spcPts val="600"/>
              </a:spcAft>
            </a:pPr>
            <a:r>
              <a:rPr sz="1300">
                <a:solidFill>
                  <a:srgbClr val="444A52"/>
                </a:solidFill>
                <a:latin typeface="Calibri"/>
              </a:rPr>
              <a:t>– s_estab = 1 − min(1, N_trocas / Nmax)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444A52"/>
                </a:solidFill>
                <a:latin typeface="Calibri"/>
              </a:rPr>
              <a:t>• Como todo s_k ∈ [0,1] e Σ w_k = 1, o score S também permanece em [0,1].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463040"/>
            <a:ext cx="5120640" cy="224028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27000"/>
          <a:lstStyle/>
          <a:p>
            <a:pPr algn="ctr"/>
            <a:r>
              <a:rPr b="1" sz="1600">
                <a:solidFill>
                  <a:srgbClr val="0B2947"/>
                </a:solidFill>
                <a:latin typeface="Calibri"/>
              </a:rPr>
              <a:t>O que a normalização garante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444A52"/>
                </a:solidFill>
                <a:latin typeface="Calibri"/>
              </a:rPr>
              <a:t>Contribuições proporcionais e comparáveis.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444A52"/>
                </a:solidFill>
                <a:latin typeface="Calibri"/>
              </a:rPr>
              <a:t>Um único limiar que preserva a escala (θ=0,75).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444A52"/>
                </a:solidFill>
                <a:latin typeface="Calibri"/>
              </a:rPr>
              <a:t>Os pesos expressam prioridade, não magnitude.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444A52"/>
                </a:solidFill>
                <a:latin typeface="Calibri"/>
              </a:rPr>
              <a:t>Robustez a mudanças de unidade/faixa do sensor.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3886200"/>
            <a:ext cx="5120640" cy="2148840"/>
          </a:xfrm>
          <a:prstGeom prst="rect">
            <a:avLst/>
          </a:prstGeom>
          <a:solidFill>
            <a:srgbClr val="0B2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27000"/>
          <a:lstStyle/>
          <a:p>
            <a:pPr algn="ctr"/>
            <a:r>
              <a:rPr b="1" sz="1600">
                <a:solidFill>
                  <a:srgbClr val="FFFFFF"/>
                </a:solidFill>
                <a:latin typeface="Calibri"/>
              </a:rPr>
              <a:t>Exemplo (só a bateria varia)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FFFFFF"/>
                </a:solidFill>
                <a:latin typeface="Calibri"/>
              </a:rPr>
              <a:t>Nó estável, bateria cheia: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FFFFFF"/>
                </a:solidFill>
                <a:latin typeface="Calibri"/>
              </a:rPr>
              <a:t>S = 0,4·1 + 0,3·1,0 + 0,3·1 = 1,00 → S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FFFFFF"/>
                </a:solidFill>
                <a:latin typeface="Calibri"/>
              </a:rPr>
              <a:t>Mesmo nó, bateria 10%: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FFFFFF"/>
                </a:solidFill>
                <a:latin typeface="Calibri"/>
              </a:rPr>
              <a:t>S = 0,4·1 + 0,3·0,10 + 0,3·1 = 0,73 → 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7A1E"/>
                </a:solidFill>
                <a:latin typeface="Calibri"/>
              </a:rPr>
              <a:t>Por que importa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B2947"/>
                </a:solidFill>
                <a:latin typeface="Calibri"/>
              </a:rPr>
              <a:t>Janela Deslizante: Estimativa de PDR Recente e Estável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1064240" cy="54864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5577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444A52"/>
                </a:solidFill>
                <a:latin typeface="Calibri"/>
              </a:rPr>
              <a:t>• O PDR é estimado a partir dos últimos W = 20 resultados de DAO-ACK (sucesso = 1, timeout = 0).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444A52"/>
                </a:solidFill>
                <a:latin typeface="Calibri"/>
              </a:rPr>
              <a:t>• s_pdr = (1/W) · Σ 1[DAO-ACK_k recebido]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444A52"/>
                </a:solidFill>
                <a:latin typeface="Calibri"/>
              </a:rPr>
              <a:t>• Implementada como buffer circular: a amostra mais nova sobrescreve a mais antiga (índice em módulo W).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444A52"/>
                </a:solidFill>
                <a:latin typeface="Calibri"/>
              </a:rPr>
              <a:t>• É uma média móvel sobre um histórico recente de tamanho fixo.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444A52"/>
                </a:solidFill>
                <a:latin typeface="Calibri"/>
              </a:rPr>
              <a:t>• Por que janela e não média desde o início:</a:t>
            </a:r>
          </a:p>
          <a:p>
            <a:pPr lvl="1">
              <a:spcAft>
                <a:spcPts val="600"/>
              </a:spcAft>
            </a:pPr>
            <a:r>
              <a:rPr sz="1300">
                <a:solidFill>
                  <a:srgbClr val="444A52"/>
                </a:solidFill>
                <a:latin typeface="Calibri"/>
              </a:rPr>
              <a:t>– A média acumulada reage cada vez mais devagar — amostras antigas nunca saem.</a:t>
            </a:r>
          </a:p>
          <a:p>
            <a:pPr lvl="1">
              <a:spcAft>
                <a:spcPts val="600"/>
              </a:spcAft>
            </a:pPr>
            <a:r>
              <a:rPr sz="1300">
                <a:solidFill>
                  <a:srgbClr val="444A52"/>
                </a:solidFill>
                <a:latin typeface="Calibri"/>
              </a:rPr>
              <a:t>– A janela mantém a estimativa atual e filtra perdas pontuais.</a:t>
            </a:r>
          </a:p>
          <a:p>
            <a:pPr lvl="1">
              <a:spcAft>
                <a:spcPts val="600"/>
              </a:spcAft>
            </a:pPr>
            <a:r>
              <a:rPr sz="1300">
                <a:solidFill>
                  <a:srgbClr val="444A52"/>
                </a:solidFill>
                <a:latin typeface="Calibri"/>
              </a:rPr>
              <a:t>– W = 20 ≈ 20 s de histórico: estável o bastante e ainda responsivo.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B2947"/>
                </a:solidFill>
                <a:latin typeface="Calibri"/>
              </a:rPr>
              <a:t>Buffer circular (W = 20 amostras)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828800"/>
            <a:ext cx="475488" cy="475488"/>
          </a:xfrm>
          <a:prstGeom prst="rect">
            <a:avLst/>
          </a:prstGeom>
          <a:solidFill>
            <a:srgbClr val="128C7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6876288" y="1828800"/>
            <a:ext cx="475488" cy="475488"/>
          </a:xfrm>
          <a:prstGeom prst="rect">
            <a:avLst/>
          </a:prstGeom>
          <a:solidFill>
            <a:srgbClr val="128C7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7351776" y="1828800"/>
            <a:ext cx="475488" cy="475488"/>
          </a:xfrm>
          <a:prstGeom prst="rect">
            <a:avLst/>
          </a:prstGeom>
          <a:solidFill>
            <a:srgbClr val="128C7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27264" y="1828800"/>
            <a:ext cx="475488" cy="475488"/>
          </a:xfrm>
          <a:prstGeom prst="rect">
            <a:avLst/>
          </a:prstGeom>
          <a:solidFill>
            <a:srgbClr val="E87A1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02752" y="1828800"/>
            <a:ext cx="475488" cy="475488"/>
          </a:xfrm>
          <a:prstGeom prst="rect">
            <a:avLst/>
          </a:prstGeom>
          <a:solidFill>
            <a:srgbClr val="128C7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78240" y="1828800"/>
            <a:ext cx="475488" cy="475488"/>
          </a:xfrm>
          <a:prstGeom prst="rect">
            <a:avLst/>
          </a:prstGeom>
          <a:solidFill>
            <a:srgbClr val="128C7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53728" y="1828800"/>
            <a:ext cx="475488" cy="475488"/>
          </a:xfrm>
          <a:prstGeom prst="rect">
            <a:avLst/>
          </a:prstGeom>
          <a:solidFill>
            <a:srgbClr val="128C7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729216" y="1828800"/>
            <a:ext cx="475488" cy="475488"/>
          </a:xfrm>
          <a:prstGeom prst="rect">
            <a:avLst/>
          </a:prstGeom>
          <a:solidFill>
            <a:srgbClr val="128C7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4704" y="1828800"/>
            <a:ext cx="475488" cy="475488"/>
          </a:xfrm>
          <a:prstGeom prst="rect">
            <a:avLst/>
          </a:prstGeom>
          <a:solidFill>
            <a:srgbClr val="128C7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680192" y="1828800"/>
            <a:ext cx="475488" cy="475488"/>
          </a:xfrm>
          <a:prstGeom prst="rect">
            <a:avLst/>
          </a:prstGeom>
          <a:solidFill>
            <a:srgbClr val="128C7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2322576"/>
            <a:ext cx="475488" cy="475488"/>
          </a:xfrm>
          <a:prstGeom prst="rect">
            <a:avLst/>
          </a:prstGeom>
          <a:solidFill>
            <a:srgbClr val="128C7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76288" y="2322576"/>
            <a:ext cx="475488" cy="475488"/>
          </a:xfrm>
          <a:prstGeom prst="rect">
            <a:avLst/>
          </a:prstGeom>
          <a:solidFill>
            <a:srgbClr val="128C7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51776" y="2322576"/>
            <a:ext cx="475488" cy="475488"/>
          </a:xfrm>
          <a:prstGeom prst="rect">
            <a:avLst/>
          </a:prstGeom>
          <a:solidFill>
            <a:srgbClr val="128C7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27264" y="2322576"/>
            <a:ext cx="475488" cy="475488"/>
          </a:xfrm>
          <a:prstGeom prst="rect">
            <a:avLst/>
          </a:prstGeom>
          <a:solidFill>
            <a:srgbClr val="128C7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02752" y="2322576"/>
            <a:ext cx="475488" cy="475488"/>
          </a:xfrm>
          <a:prstGeom prst="rect">
            <a:avLst/>
          </a:prstGeom>
          <a:solidFill>
            <a:srgbClr val="128C7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78240" y="2322576"/>
            <a:ext cx="475488" cy="475488"/>
          </a:xfrm>
          <a:prstGeom prst="rect">
            <a:avLst/>
          </a:prstGeom>
          <a:solidFill>
            <a:srgbClr val="128C7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53728" y="2322576"/>
            <a:ext cx="475488" cy="475488"/>
          </a:xfrm>
          <a:prstGeom prst="rect">
            <a:avLst/>
          </a:prstGeom>
          <a:solidFill>
            <a:srgbClr val="E87A1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729216" y="2322576"/>
            <a:ext cx="475488" cy="475488"/>
          </a:xfrm>
          <a:prstGeom prst="rect">
            <a:avLst/>
          </a:prstGeom>
          <a:solidFill>
            <a:srgbClr val="128C7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204704" y="2322576"/>
            <a:ext cx="475488" cy="475488"/>
          </a:xfrm>
          <a:prstGeom prst="rect">
            <a:avLst/>
          </a:prstGeom>
          <a:solidFill>
            <a:srgbClr val="128C7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680192" y="2322576"/>
            <a:ext cx="475488" cy="475488"/>
          </a:xfrm>
          <a:prstGeom prst="rect">
            <a:avLst/>
          </a:prstGeom>
          <a:solidFill>
            <a:srgbClr val="128C7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8803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B2947"/>
                </a:solidFill>
                <a:latin typeface="Calibri"/>
              </a:rPr>
              <a:t>18 sucessos / 20  →  s_pdr = 0,90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3429000"/>
            <a:ext cx="5120640" cy="260604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27000"/>
          <a:lstStyle/>
          <a:p>
            <a:pPr algn="ctr"/>
            <a:r>
              <a:rPr b="1" sz="1600">
                <a:solidFill>
                  <a:srgbClr val="0B2947"/>
                </a:solidFill>
                <a:latin typeface="Calibri"/>
              </a:rPr>
              <a:t>Janela vs. EMA — ferramentas distintas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444A52"/>
                </a:solidFill>
                <a:latin typeface="Calibri"/>
              </a:rPr>
              <a:t>PDR: janela deslizante aritmética (peso igual,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444A52"/>
                </a:solidFill>
                <a:latin typeface="Calibri"/>
              </a:rPr>
              <a:t>  horizonte recente fixo, rápida porém estável).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444A52"/>
                </a:solidFill>
                <a:latin typeface="Calibri"/>
              </a:rPr>
              <a:t>Energia: EMA α=0,3 (desvanecimento exponencial,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444A52"/>
                </a:solidFill>
                <a:latin typeface="Calibri"/>
              </a:rPr>
              <a:t>  filtra ruído do sensor em sinal lento).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444A52"/>
                </a:solidFill>
                <a:latin typeface="Calibri"/>
              </a:rPr>
              <a:t>Estabilidade: contagem normalizada em 60 s.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444A52"/>
                </a:solidFill>
                <a:latin typeface="Calibri"/>
              </a:rPr>
              <a:t>Cada janela combina com a dinâmica da métrica.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7A1E"/>
                </a:solidFill>
                <a:latin typeface="Calibri"/>
              </a:rPr>
              <a:t>Fluxo de decisão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B2947"/>
                </a:solidFill>
                <a:latin typeface="Calibri"/>
              </a:rPr>
              <a:t>Do Score à Ação: Histerese e Controle Seguro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1064240" cy="54864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5349240" cy="448056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27000"/>
          <a:lstStyle/>
          <a:p>
            <a:pPr algn="ctr"/>
            <a:r>
              <a:rPr b="1" sz="1600">
                <a:solidFill>
                  <a:srgbClr val="0B2947"/>
                </a:solidFill>
                <a:latin typeface="Calibri"/>
              </a:rPr>
              <a:t>Histerese (anti-oscilação)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444A52"/>
                </a:solidFill>
                <a:latin typeface="Calibri"/>
              </a:rPr>
              <a:t>A troca só é aplicada após 3 ciclos consecutivos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444A52"/>
                </a:solidFill>
                <a:latin typeface="Calibri"/>
              </a:rPr>
              <a:t>recomendando a mesma nova classe.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444A52"/>
                </a:solidFill>
                <a:latin typeface="Calibri"/>
              </a:rPr>
              <a:t>Evita flapping quando o score fica perto de θ.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444A52"/>
                </a:solidFill>
                <a:latin typeface="Calibri"/>
              </a:rPr>
              <a:t>O contador zera se a recomendação inverte.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444A52"/>
                </a:solidFill>
                <a:latin typeface="Calibri"/>
              </a:rPr>
              <a:t>Mais o rate limiting compartilhado: ≥ 10 s entre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444A52"/>
                </a:solidFill>
                <a:latin typeface="Calibri"/>
              </a:rPr>
              <a:t>trocas, ≤ 3 por minuto.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444A52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444A52"/>
                </a:solidFill>
                <a:latin typeface="Calibri"/>
              </a:rPr>
              <a:t>Resultado: trocas deliberadas, nunca ruidosas.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463040"/>
            <a:ext cx="5394960" cy="4480560"/>
          </a:xfrm>
          <a:prstGeom prst="rect">
            <a:avLst/>
          </a:prstGeom>
          <a:solidFill>
            <a:srgbClr val="0B2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27000"/>
          <a:lstStyle/>
          <a:p>
            <a:pPr algn="ctr"/>
            <a:r>
              <a:rPr b="1" sz="1600">
                <a:solidFill>
                  <a:srgbClr val="FFFFFF"/>
                </a:solidFill>
                <a:latin typeface="Calibri"/>
              </a:rPr>
              <a:t>FIFO Seguro — 5 camadas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FFFFFF"/>
                </a:solidFill>
                <a:latin typeface="Calibri"/>
              </a:rPr>
              <a:t>1. HMAC-SHA256 com token de 256 bits.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FFFFFF"/>
                </a:solidFill>
                <a:latin typeface="Calibri"/>
              </a:rPr>
              <a:t>2. Nonce monotônico → bloqueia replay.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FFFFFF"/>
                </a:solidFill>
                <a:latin typeface="Calibri"/>
              </a:rPr>
              <a:t>3. Rate limiting (compartilhado com o motor).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FFFFFF"/>
                </a:solidFill>
                <a:latin typeface="Calibri"/>
              </a:rPr>
              <a:t>4. FIFO modo 0600 → só root pode escrever.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FFFFFF"/>
                </a:solidFill>
                <a:latin typeface="Calibri"/>
              </a:rPr>
              <a:t>5. Log de auditoria (aceitos/rejeitados).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FFFFFF"/>
                </a:solidFill>
                <a:latin typeface="Calibri"/>
              </a:rPr>
              <a:t>CLASS_S | &lt;nonce_hex&gt; | &lt;hmac_hex&gt;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FFFFFF"/>
                </a:solidFill>
                <a:latin typeface="Calibri"/>
              </a:rPr>
              <a:t>Fallback em texto plano quando não há token.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7A1E"/>
                </a:solidFill>
                <a:latin typeface="Calibri"/>
              </a:rPr>
              <a:t>Resultados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B2947"/>
                </a:solidFill>
                <a:latin typeface="Calibri"/>
              </a:rPr>
              <a:t>Validação Experimental (Mininet-WiFi + 6LoWPAN)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1064240" cy="54864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5349240" cy="210312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27000"/>
          <a:lstStyle/>
          <a:p>
            <a:pPr algn="ctr"/>
            <a:r>
              <a:rPr b="1" sz="1600">
                <a:solidFill>
                  <a:srgbClr val="0B2947"/>
                </a:solidFill>
                <a:latin typeface="Calibri"/>
              </a:rPr>
              <a:t>Decisão adaptativa (6 fases)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444A52"/>
                </a:solidFill>
                <a:latin typeface="Calibri"/>
              </a:rPr>
              <a:t>Classe correta em todas as fases: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444A52"/>
                </a:solidFill>
                <a:latin typeface="Calibri"/>
              </a:rPr>
              <a:t>Estável + bateria cheia → S (score ≈ 1,00).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444A52"/>
                </a:solidFill>
                <a:latin typeface="Calibri"/>
              </a:rPr>
              <a:t>Bateria baixa → N (score ≈ 0,73).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444A52"/>
                </a:solidFill>
                <a:latin typeface="Calibri"/>
              </a:rPr>
              <a:t>Recuperação → volta para 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463040"/>
            <a:ext cx="5394960" cy="210312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27000"/>
          <a:lstStyle/>
          <a:p>
            <a:pPr algn="ctr"/>
            <a:r>
              <a:rPr b="1" sz="1600">
                <a:solidFill>
                  <a:srgbClr val="0B2947"/>
                </a:solidFill>
                <a:latin typeface="Calibri"/>
              </a:rPr>
              <a:t>Troca dinâmica via FIFO seguro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444A52"/>
                </a:solidFill>
                <a:latin typeface="Calibri"/>
              </a:rPr>
              <a:t>N→S→N em execução, 100% de PDR o tempo todo.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444A52"/>
                </a:solidFill>
                <a:latin typeface="Calibri"/>
              </a:rPr>
              <a:t>Latência local s4→s5 −38,6% após N→S.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444A52"/>
                </a:solidFill>
                <a:latin typeface="Calibri"/>
              </a:rPr>
              <a:t>Comandos autenticados, sem pacotes extras.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703320"/>
            <a:ext cx="5349240" cy="2194560"/>
          </a:xfrm>
          <a:prstGeom prst="rect">
            <a:avLst/>
          </a:prstGeom>
          <a:solidFill>
            <a:srgbClr val="128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27000"/>
          <a:lstStyle/>
          <a:p>
            <a:pPr algn="ctr"/>
            <a:r>
              <a:rPr b="1" sz="1600">
                <a:solidFill>
                  <a:srgbClr val="FFFFFF"/>
                </a:solidFill>
                <a:latin typeface="Calibri"/>
              </a:rPr>
              <a:t>Resiliência em mesh (falha após restauração)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FFFFFF"/>
                </a:solidFill>
                <a:latin typeface="Calibri"/>
              </a:rPr>
              <a:t>PDR:  HyMRPL 87,2%  vs  Storing 79,5%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FFFFFF"/>
                </a:solidFill>
                <a:latin typeface="Calibri"/>
              </a:rPr>
              <a:t>        vs  Non-Storing 64,1%.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FFFFFF"/>
                </a:solidFill>
                <a:latin typeface="Calibri"/>
              </a:rPr>
              <a:t>+23,1 pp sobre Non-Storing, +7,7 sobre Storing.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FFFFFF"/>
                </a:solidFill>
                <a:latin typeface="Calibri"/>
              </a:rPr>
              <a:t>Árvore SRH enriquecida → mais caminhos alternativos.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3703320"/>
            <a:ext cx="5394960" cy="219456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27000"/>
          <a:lstStyle/>
          <a:p>
            <a:pPr algn="ctr"/>
            <a:r>
              <a:rPr b="1" sz="1600">
                <a:solidFill>
                  <a:srgbClr val="FFFFFF"/>
                </a:solidFill>
                <a:latin typeface="Calibri"/>
              </a:rPr>
              <a:t>Custo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FFFFFF"/>
                </a:solidFill>
                <a:latin typeface="Calibri"/>
              </a:rPr>
              <a:t>CPU, memória e tráfego de controle idênticos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FFFFFF"/>
                </a:solidFill>
                <a:latin typeface="Calibri"/>
              </a:rPr>
              <a:t>aos modos tradicionais.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FFFFFF"/>
                </a:solidFill>
                <a:latin typeface="Calibri"/>
              </a:rPr>
              <a:t>Troca de classe é puramente local (1 byte).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FFFFFF"/>
                </a:solidFill>
                <a:latin typeface="Calibri"/>
              </a:rPr>
              <a:t>Adaptação sem overhead mensurável.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7A1E"/>
                </a:solidFill>
                <a:latin typeface="Calibri"/>
              </a:rPr>
              <a:t>Encerramento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B2947"/>
                </a:solidFill>
                <a:latin typeface="Calibri"/>
              </a:rPr>
              <a:t>Verificação do Código e Conclusões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1064240" cy="54864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6492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444A52"/>
                </a:solidFill>
                <a:latin typeface="Calibri"/>
              </a:rPr>
              <a:t>• A implementação em C reproduz fielmente o modelo da dissertação:</a:t>
            </a:r>
          </a:p>
          <a:p>
            <a:pPr lvl="1">
              <a:spcAft>
                <a:spcPts val="600"/>
              </a:spcAft>
            </a:pPr>
            <a:r>
              <a:rPr sz="1300">
                <a:solidFill>
                  <a:srgbClr val="444A52"/>
                </a:solidFill>
                <a:latin typeface="Calibri"/>
              </a:rPr>
              <a:t>– Janela deslizante W=20, EMA α=0,3, índice de estabilidade, pesos 0,4/0,3/0,3, θ=0,75, histerese de 3 ciclos.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444A52"/>
                </a:solidFill>
                <a:latin typeface="Calibri"/>
              </a:rPr>
              <a:t>• Os hooks de PDR (DAO-ACK) e de troca de parent foram integrados ao process.c — sem alterar mensagens RPL nem emitir pacotes.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444A52"/>
                </a:solidFill>
                <a:latin typeface="Calibri"/>
              </a:rPr>
              <a:t>• A detecção de timeout de DAO-ACK é local; o FIFO usa comparação HMAC em tempo constante e nonce crescente.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444A52"/>
                </a:solidFill>
                <a:latin typeface="Calibri"/>
              </a:rPr>
              <a:t>• hymrpl_cmd.c compila limpo com -Wall -Wextra; sem diagnósticos no motor, no header e no daemon.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444A52"/>
                </a:solidFill>
                <a:latin typeface="Calibri"/>
              </a:rPr>
              <a:t>• Experimentos em Python validados nos fluxos de bateria e de FIFO.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0" y="1463040"/>
            <a:ext cx="4206240" cy="4480560"/>
          </a:xfrm>
          <a:prstGeom prst="rect">
            <a:avLst/>
          </a:prstGeom>
          <a:solidFill>
            <a:srgbClr val="0B2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27000"/>
          <a:lstStyle/>
          <a:p>
            <a:pPr algn="ctr"/>
            <a:r>
              <a:rPr b="1" sz="1600">
                <a:solidFill>
                  <a:srgbClr val="FFFFFF"/>
                </a:solidFill>
                <a:latin typeface="Calibri"/>
              </a:rPr>
              <a:t>Principais contribuições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FFFFFF"/>
                </a:solidFill>
                <a:latin typeface="Calibri"/>
              </a:rPr>
              <a:t>Coexistência S/N por nó em uma DODAG (MOP=6).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FFFFFF"/>
                </a:solidFill>
                <a:latin typeface="Calibri"/>
              </a:rPr>
              <a:t>Motor adaptativo de score composto normalizado.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FFFFFF"/>
                </a:solidFill>
                <a:latin typeface="Calibri"/>
              </a:rPr>
              <a:t>Controle de classe seguro e autenticado em runtime.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FFFFFF"/>
                </a:solidFill>
                <a:latin typeface="Calibri"/>
              </a:rPr>
              <a:t>Ganho de resiliência sem overhead na rede.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